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1" r:id="rId6"/>
    <p:sldId id="258" r:id="rId7"/>
    <p:sldId id="265" r:id="rId8"/>
  </p:sldIdLst>
  <p:sldSz cx="18288000" cy="10287000"/>
  <p:notesSz cx="6858000" cy="9144000"/>
  <p:embeddedFontLst>
    <p:embeddedFont>
      <p:font typeface="Lato" panose="020F0502020204030203" pitchFamily="34" charset="0"/>
      <p:regular r:id="rId9"/>
    </p:embeddedFont>
    <p:embeddedFont>
      <p:font typeface="Lato Bold" panose="020F0502020204030203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8061" y="3390900"/>
            <a:ext cx="10651000" cy="1298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DUYGUSAL YEME BOZUKLUĞU İLE KİLO ARASINDAKİ İLİŞKİ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5019" y="6134100"/>
            <a:ext cx="8457083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Işıl DEMİRLİ</a:t>
            </a:r>
          </a:p>
          <a:p>
            <a:pPr algn="ctr">
              <a:lnSpc>
                <a:spcPts val="2310"/>
              </a:lnSpc>
            </a:pPr>
            <a:r>
              <a:rPr lang="en-US" sz="21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İrem Buse POLAT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5019" y="7200900"/>
            <a:ext cx="8457083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MUĞLA-2025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81720" y="-218676"/>
            <a:ext cx="1410420" cy="10724351"/>
            <a:chOff x="0" y="0"/>
            <a:chExt cx="371469" cy="28245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29320" y="-66276"/>
            <a:ext cx="1258020" cy="1655660"/>
            <a:chOff x="0" y="0"/>
            <a:chExt cx="331330" cy="4360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2" name="Resim 11">
            <a:extLst>
              <a:ext uri="{FF2B5EF4-FFF2-40B4-BE49-F238E27FC236}">
                <a16:creationId xmlns:a16="http://schemas.microsoft.com/office/drawing/2014/main" id="{0900D5F9-2763-42DA-F2F6-4590320303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048" y="2375944"/>
            <a:ext cx="2864922" cy="4627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277600" y="2344988"/>
            <a:ext cx="563880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tr-TR" sz="2400" b="1" dirty="0">
                <a:solidFill>
                  <a:srgbClr val="253439"/>
                </a:solidFill>
                <a:ea typeface="Calibri" panose="020F0502020204030204" pitchFamily="34" charset="0"/>
                <a:cs typeface="Calibri" panose="020F0502020204030204" pitchFamily="34" charset="0"/>
                <a:sym typeface="Lato Bold"/>
              </a:rPr>
              <a:t>Örneklem : Muğla Sıtkı Koçman Üniversitesinden 500 öğrenci </a:t>
            </a:r>
            <a:endParaRPr lang="en-US" sz="2400" b="1" dirty="0">
              <a:solidFill>
                <a:srgbClr val="253439"/>
              </a:solidFill>
              <a:ea typeface="Calibri" panose="020F0502020204030204" pitchFamily="34" charset="0"/>
              <a:cs typeface="Calibri" panose="020F0502020204030204" pitchFamily="34" charset="0"/>
              <a:sym typeface="Lat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88939" y="3589309"/>
            <a:ext cx="552746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tr-TR" sz="2400" b="1" dirty="0">
                <a:solidFill>
                  <a:srgbClr val="2534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old"/>
              </a:rPr>
              <a:t>Veri Kaynağı: Veriler mostly.ai üzerinden sentetik olarak üretilmiştir.</a:t>
            </a:r>
            <a:endParaRPr lang="en-US" sz="2400" b="1" dirty="0">
              <a:solidFill>
                <a:srgbClr val="25343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Lat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52068" y="4895327"/>
            <a:ext cx="4529487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tr-TR" sz="2400" b="1" dirty="0">
                <a:solidFill>
                  <a:srgbClr val="253439"/>
                </a:solidFill>
                <a:ea typeface="Lato Bold"/>
                <a:cs typeface="Lato Bold"/>
                <a:sym typeface="Lato Bold"/>
              </a:rPr>
              <a:t>Duygusal Yeme Ölçeği(DYÖ) kullanılmıştır.</a:t>
            </a:r>
            <a:endParaRPr lang="en-US" sz="2400" b="1" dirty="0">
              <a:solidFill>
                <a:srgbClr val="253439"/>
              </a:solidFill>
              <a:ea typeface="Lato Bold"/>
              <a:cs typeface="Lato Bold"/>
              <a:sym typeface="La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388939" y="6351957"/>
            <a:ext cx="4529487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tr-TR" sz="2400" b="1" dirty="0"/>
              <a:t>Veriler normal dağılmadığı için </a:t>
            </a:r>
            <a:r>
              <a:rPr lang="tr-TR" sz="2400" b="1" dirty="0" err="1"/>
              <a:t>Non</a:t>
            </a:r>
            <a:r>
              <a:rPr lang="tr-TR" sz="2400" b="1" dirty="0"/>
              <a:t>-Parametrik Testler (</a:t>
            </a:r>
            <a:r>
              <a:rPr lang="tr-TR" sz="2400" b="1" dirty="0" err="1"/>
              <a:t>Kruskal</a:t>
            </a:r>
            <a:r>
              <a:rPr lang="tr-TR" sz="2400" b="1" dirty="0"/>
              <a:t>-Wallis, </a:t>
            </a:r>
            <a:r>
              <a:rPr lang="tr-TR" sz="2400" b="1" dirty="0" err="1"/>
              <a:t>Spearman</a:t>
            </a:r>
            <a:r>
              <a:rPr lang="tr-TR" sz="2400" b="1" dirty="0"/>
              <a:t>) kullanılmıştır.</a:t>
            </a:r>
            <a:endParaRPr lang="en-US" sz="2400" b="1" dirty="0">
              <a:solidFill>
                <a:srgbClr val="253439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741118" y="7202982"/>
            <a:ext cx="225880" cy="5403316"/>
            <a:chOff x="0" y="0"/>
            <a:chExt cx="301173" cy="7204422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9665709" y="2344988"/>
            <a:ext cx="111077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tr-TR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lang="en-US" sz="3600" dirty="0">
              <a:solidFill>
                <a:srgbClr val="7C89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665709" y="4840573"/>
            <a:ext cx="111077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tr-TR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lang="en-US" sz="3600" dirty="0">
              <a:solidFill>
                <a:srgbClr val="7C89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665709" y="3586365"/>
            <a:ext cx="111077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tr-TR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lang="en-US" sz="3600" dirty="0">
              <a:solidFill>
                <a:srgbClr val="7C89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665709" y="6324759"/>
            <a:ext cx="111077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tr-TR" sz="3600" dirty="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lang="en-US" sz="3600" dirty="0">
              <a:solidFill>
                <a:srgbClr val="7C898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" name="Resim 35">
            <a:extLst>
              <a:ext uri="{FF2B5EF4-FFF2-40B4-BE49-F238E27FC236}">
                <a16:creationId xmlns:a16="http://schemas.microsoft.com/office/drawing/2014/main" id="{AC1C43F9-30F2-B61B-7701-B1B19539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540" y="1839072"/>
            <a:ext cx="6151312" cy="6151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94152" y="4220717"/>
            <a:ext cx="5154248" cy="176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799"/>
              </a:lnSpc>
              <a:spcBef>
                <a:spcPct val="0"/>
              </a:spcBef>
            </a:pPr>
            <a:r>
              <a:rPr lang="tr-TR" sz="3000" dirty="0"/>
              <a:t>H0: </a:t>
            </a:r>
            <a:r>
              <a:rPr lang="tr-TR" sz="3000" dirty="0" err="1"/>
              <a:t>mB</a:t>
            </a:r>
            <a:r>
              <a:rPr lang="tr-TR" sz="3000" dirty="0"/>
              <a:t> = </a:t>
            </a:r>
            <a:r>
              <a:rPr lang="tr-TR" sz="3000" dirty="0" err="1"/>
              <a:t>mK</a:t>
            </a:r>
            <a:r>
              <a:rPr lang="tr-TR" sz="3000" dirty="0"/>
              <a:t> = </a:t>
            </a:r>
            <a:r>
              <a:rPr lang="tr-TR" sz="3000" dirty="0" err="1"/>
              <a:t>mE</a:t>
            </a:r>
            <a:r>
              <a:rPr lang="tr-TR" sz="3000" dirty="0"/>
              <a:t> (Grupların </a:t>
            </a:r>
            <a:r>
              <a:rPr lang="tr-TR" sz="3000" dirty="0" err="1"/>
              <a:t>medyanları</a:t>
            </a:r>
            <a:r>
              <a:rPr lang="tr-TR" sz="3000" dirty="0"/>
              <a:t> eşittir) </a:t>
            </a:r>
          </a:p>
          <a:p>
            <a:pPr lvl="0" algn="just">
              <a:lnSpc>
                <a:spcPts val="2799"/>
              </a:lnSpc>
              <a:spcBef>
                <a:spcPct val="0"/>
              </a:spcBef>
            </a:pPr>
            <a:r>
              <a:rPr lang="tr-TR" sz="3000" dirty="0"/>
              <a:t>H1: En az bir grubun medyanı farklıdır. </a:t>
            </a:r>
            <a:endParaRPr lang="tr-TR" sz="3000" u="none" strike="noStrike" spc="-3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ts val="2799"/>
              </a:lnSpc>
              <a:spcBef>
                <a:spcPct val="0"/>
              </a:spcBef>
            </a:pPr>
            <a:endParaRPr lang="en-US" sz="1999" u="none" strike="noStrike" spc="-3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91694" y="1287347"/>
            <a:ext cx="6449648" cy="919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tr-TR" sz="55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Demografik Bulgular</a:t>
            </a:r>
            <a:endParaRPr lang="en-US" sz="5500" u="none" strike="noStrike" dirty="0">
              <a:solidFill>
                <a:srgbClr val="25343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454E2B3-7670-51A3-6F4D-2002B606B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811" y="2207022"/>
            <a:ext cx="8594837" cy="5895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1417" y="723900"/>
            <a:ext cx="7643493" cy="5410200"/>
            <a:chOff x="0" y="0"/>
            <a:chExt cx="1302216" cy="1383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2216" cy="1383098"/>
            </a:xfrm>
            <a:custGeom>
              <a:avLst/>
              <a:gdLst/>
              <a:ahLst/>
              <a:cxnLst/>
              <a:rect l="l" t="t" r="r" b="b"/>
              <a:pathLst>
                <a:path w="1302216" h="1383098">
                  <a:moveTo>
                    <a:pt x="0" y="0"/>
                  </a:moveTo>
                  <a:lnTo>
                    <a:pt x="1302216" y="0"/>
                  </a:lnTo>
                  <a:lnTo>
                    <a:pt x="1302216" y="1383098"/>
                  </a:lnTo>
                  <a:lnTo>
                    <a:pt x="0" y="138309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2216" cy="1421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05800" y="4991101"/>
            <a:ext cx="8115265" cy="4903506"/>
            <a:chOff x="0" y="0"/>
            <a:chExt cx="1302216" cy="13830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2216" cy="1383098"/>
            </a:xfrm>
            <a:custGeom>
              <a:avLst/>
              <a:gdLst/>
              <a:ahLst/>
              <a:cxnLst/>
              <a:rect l="l" t="t" r="r" b="b"/>
              <a:pathLst>
                <a:path w="1302216" h="1383098">
                  <a:moveTo>
                    <a:pt x="0" y="0"/>
                  </a:moveTo>
                  <a:lnTo>
                    <a:pt x="1302216" y="0"/>
                  </a:lnTo>
                  <a:lnTo>
                    <a:pt x="1302216" y="1383098"/>
                  </a:lnTo>
                  <a:lnTo>
                    <a:pt x="0" y="138309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02216" cy="1421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191601" y="0"/>
            <a:ext cx="1410420" cy="10724351"/>
            <a:chOff x="0" y="0"/>
            <a:chExt cx="371469" cy="28245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03111" y="-66276"/>
            <a:ext cx="1258020" cy="1655660"/>
            <a:chOff x="0" y="0"/>
            <a:chExt cx="331330" cy="4360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26" name="Resim 25">
            <a:extLst>
              <a:ext uri="{FF2B5EF4-FFF2-40B4-BE49-F238E27FC236}">
                <a16:creationId xmlns:a16="http://schemas.microsoft.com/office/drawing/2014/main" id="{4CC86FB2-0CE8-ADF8-F6E5-BEC800034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30" y="1088266"/>
            <a:ext cx="6617947" cy="4532434"/>
          </a:xfrm>
          <a:prstGeom prst="rect">
            <a:avLst/>
          </a:pr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89133516-0423-F6DB-4B24-84CB702B4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187" y="5170563"/>
            <a:ext cx="7037647" cy="44095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71336" y="5981700"/>
            <a:ext cx="6062578" cy="3051093"/>
            <a:chOff x="0" y="0"/>
            <a:chExt cx="1596728" cy="8035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96729" cy="803580"/>
            </a:xfrm>
            <a:custGeom>
              <a:avLst/>
              <a:gdLst/>
              <a:ahLst/>
              <a:cxnLst/>
              <a:rect l="l" t="t" r="r" b="b"/>
              <a:pathLst>
                <a:path w="1596729" h="803580">
                  <a:moveTo>
                    <a:pt x="0" y="0"/>
                  </a:moveTo>
                  <a:lnTo>
                    <a:pt x="1596729" y="0"/>
                  </a:lnTo>
                  <a:lnTo>
                    <a:pt x="1596729" y="803580"/>
                  </a:lnTo>
                  <a:lnTo>
                    <a:pt x="0" y="8035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29E8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96728" cy="84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75768" y="6968637"/>
            <a:ext cx="4653713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799"/>
              </a:lnSpc>
              <a:spcBef>
                <a:spcPct val="0"/>
              </a:spcBef>
            </a:pPr>
            <a:r>
              <a:rPr lang="tr-TR" sz="2500" dirty="0"/>
              <a:t>Duygusal yeme puanı arttıkça, BKİ (Kilo) değeri de </a:t>
            </a:r>
            <a:r>
              <a:rPr lang="tr-TR" sz="2500" b="1" dirty="0"/>
              <a:t>anlamlı şekilde artmaktadır</a:t>
            </a:r>
            <a:endParaRPr lang="en-US" sz="2500" u="none" strike="noStrike" spc="-39" dirty="0">
              <a:solidFill>
                <a:srgbClr val="1C19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" name="Resim 27">
            <a:extLst>
              <a:ext uri="{FF2B5EF4-FFF2-40B4-BE49-F238E27FC236}">
                <a16:creationId xmlns:a16="http://schemas.microsoft.com/office/drawing/2014/main" id="{7FDC83EE-BEF4-9109-C531-0505C3285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9" y="1037808"/>
            <a:ext cx="9943608" cy="5861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1860" y="3004425"/>
            <a:ext cx="16464280" cy="104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tr-TR" sz="3700" dirty="0">
                <a:solidFill>
                  <a:schemeClr val="bg1"/>
                </a:solidFill>
              </a:rPr>
              <a:t>B𝐾İ=22.082+(0.167×Ö𝑓𝑘𝑒)+(0.094 ×𝐾𝑎𝑦𝑔𝚤)+(0.144 ×𝐷𝑒𝑝𝑟𝑒𝑠𝑦𝑜𝑛)−(0.115 ×𝐶𝑖𝑛𝑠𝑖𝑦𝑒𝑡) </a:t>
            </a:r>
            <a:endParaRPr lang="en-US" sz="37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2817874" y="7126782"/>
            <a:ext cx="225880" cy="5403316"/>
            <a:chOff x="0" y="0"/>
            <a:chExt cx="301173" cy="72044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sp>
        <p:nvSpPr>
          <p:cNvPr id="15" name="Başlık 14">
            <a:extLst>
              <a:ext uri="{FF2B5EF4-FFF2-40B4-BE49-F238E27FC236}">
                <a16:creationId xmlns:a16="http://schemas.microsoft.com/office/drawing/2014/main" id="{868D7F76-E725-D555-E9BF-55621851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332777"/>
            <a:ext cx="8229600" cy="1143000"/>
          </a:xfrm>
        </p:spPr>
        <p:txBody>
          <a:bodyPr>
            <a:normAutofit/>
          </a:bodyPr>
          <a:lstStyle/>
          <a:p>
            <a:r>
              <a:rPr lang="tr-TR" sz="5000" dirty="0">
                <a:solidFill>
                  <a:schemeClr val="bg1"/>
                </a:solidFill>
              </a:rPr>
              <a:t>Regresyon Modeli</a:t>
            </a:r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10323784-07A2-D601-ED2E-177C1E0C3C1E}"/>
              </a:ext>
            </a:extLst>
          </p:cNvPr>
          <p:cNvGrpSpPr/>
          <p:nvPr/>
        </p:nvGrpSpPr>
        <p:grpSpPr>
          <a:xfrm>
            <a:off x="5562600" y="5062659"/>
            <a:ext cx="6062578" cy="3051093"/>
            <a:chOff x="0" y="0"/>
            <a:chExt cx="1596728" cy="80358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D5352887-56CE-4DB4-D89F-A58BCC0EE6B3}"/>
                </a:ext>
              </a:extLst>
            </p:cNvPr>
            <p:cNvSpPr/>
            <p:nvPr/>
          </p:nvSpPr>
          <p:spPr>
            <a:xfrm>
              <a:off x="0" y="0"/>
              <a:ext cx="1596729" cy="803580"/>
            </a:xfrm>
            <a:custGeom>
              <a:avLst/>
              <a:gdLst/>
              <a:ahLst/>
              <a:cxnLst/>
              <a:rect l="l" t="t" r="r" b="b"/>
              <a:pathLst>
                <a:path w="1596729" h="803580">
                  <a:moveTo>
                    <a:pt x="0" y="0"/>
                  </a:moveTo>
                  <a:lnTo>
                    <a:pt x="1596729" y="0"/>
                  </a:lnTo>
                  <a:lnTo>
                    <a:pt x="1596729" y="803580"/>
                  </a:lnTo>
                  <a:lnTo>
                    <a:pt x="0" y="8035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29E84"/>
              </a:solidFill>
              <a:prstDash val="solid"/>
              <a:miter/>
            </a:ln>
          </p:spPr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6EB446F-80DD-15E9-0338-B44A6458ED9F}"/>
                </a:ext>
              </a:extLst>
            </p:cNvPr>
            <p:cNvSpPr txBox="1"/>
            <p:nvPr/>
          </p:nvSpPr>
          <p:spPr>
            <a:xfrm>
              <a:off x="0" y="-38100"/>
              <a:ext cx="1596728" cy="84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21">
            <a:extLst>
              <a:ext uri="{FF2B5EF4-FFF2-40B4-BE49-F238E27FC236}">
                <a16:creationId xmlns:a16="http://schemas.microsoft.com/office/drawing/2014/main" id="{6A4CECB5-6E94-F4E5-5043-00E89ECF4105}"/>
              </a:ext>
            </a:extLst>
          </p:cNvPr>
          <p:cNvSpPr txBox="1"/>
          <p:nvPr/>
        </p:nvSpPr>
        <p:spPr>
          <a:xfrm>
            <a:off x="6121505" y="6382308"/>
            <a:ext cx="4944768" cy="41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tr-TR" sz="2799" b="1" dirty="0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KAYGI &gt;DEPRESYON&gt;ÖFKE</a:t>
            </a:r>
            <a:endParaRPr lang="en-US" sz="2799" b="1" u="none" strike="noStrike" dirty="0">
              <a:solidFill>
                <a:srgbClr val="253439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9E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5571" y="1638300"/>
            <a:ext cx="1429337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tr-TR" sz="96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TEŞEKKÜR EDERİZ</a:t>
            </a:r>
            <a:endParaRPr lang="en-US" sz="9600" dirty="0">
              <a:solidFill>
                <a:srgbClr val="25343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15477180" y="1028700"/>
            <a:ext cx="274763" cy="274763"/>
            <a:chOff x="0" y="0"/>
            <a:chExt cx="178795" cy="1787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795" cy="178795"/>
            </a:xfrm>
            <a:custGeom>
              <a:avLst/>
              <a:gdLst/>
              <a:ahLst/>
              <a:cxnLst/>
              <a:rect l="l" t="t" r="r" b="b"/>
              <a:pathLst>
                <a:path w="178795" h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6015926" y="1028700"/>
            <a:ext cx="274763" cy="274763"/>
            <a:chOff x="0" y="0"/>
            <a:chExt cx="178795" cy="1787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795" cy="178795"/>
            </a:xfrm>
            <a:custGeom>
              <a:avLst/>
              <a:gdLst/>
              <a:ahLst/>
              <a:cxnLst/>
              <a:rect l="l" t="t" r="r" b="b"/>
              <a:pathLst>
                <a:path w="178795" h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F6F4F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6554672" y="1028700"/>
            <a:ext cx="274763" cy="274763"/>
            <a:chOff x="0" y="0"/>
            <a:chExt cx="178795" cy="1787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795" cy="178795"/>
            </a:xfrm>
            <a:custGeom>
              <a:avLst/>
              <a:gdLst/>
              <a:ahLst/>
              <a:cxnLst/>
              <a:rect l="l" t="t" r="r" b="b"/>
              <a:pathLst>
                <a:path w="178795" h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5" name="Resim 14">
            <a:extLst>
              <a:ext uri="{FF2B5EF4-FFF2-40B4-BE49-F238E27FC236}">
                <a16:creationId xmlns:a16="http://schemas.microsoft.com/office/drawing/2014/main" id="{8A437E52-6B76-353B-79CB-9376669E6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44" y="3390900"/>
            <a:ext cx="6325030" cy="6325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133</Words>
  <Application>Microsoft Office PowerPoint</Application>
  <PresentationFormat>Özel</PresentationFormat>
  <Paragraphs>20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Lato</vt:lpstr>
      <vt:lpstr>Calibri</vt:lpstr>
      <vt:lpstr>Arial</vt:lpstr>
      <vt:lpstr>Lato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Regresyon Modeli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and White Simple Thesis Defense Presentation</dc:title>
  <cp:lastModifiedBy>Işıl DEMİRLİ</cp:lastModifiedBy>
  <cp:revision>22</cp:revision>
  <dcterms:created xsi:type="dcterms:W3CDTF">2006-08-16T00:00:00Z</dcterms:created>
  <dcterms:modified xsi:type="dcterms:W3CDTF">2026-01-07T00:31:12Z</dcterms:modified>
  <dc:identifier>DAG9rgyNleo</dc:identifier>
</cp:coreProperties>
</file>